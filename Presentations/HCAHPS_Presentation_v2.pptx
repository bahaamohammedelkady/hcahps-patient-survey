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365760"/>
            <a:ext cx="2834640" cy="2834640"/>
          </a:xfrm>
          <a:prstGeom prst="ellipse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0" y="50292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🏥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HCAHPS Patient Survey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Quality of Care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5486400" cy="4572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7004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 ·  51 States  ·  10 Measures  ·  2015 – 2023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128016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4107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09928" y="3383280"/>
            <a:ext cx="128016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34107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States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09928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99816" y="3383280"/>
            <a:ext cx="128016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34107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99816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9704" y="3383280"/>
            <a:ext cx="128016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704" y="34107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89704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Dr. Bahaa  ·  Bahaa Pharmacy, Dirout, Egypt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10058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scope, and key variables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64792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181051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1305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distributions &amp;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9464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946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261518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93522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hospitals improving overall?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4136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74136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341985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Measure-by-Measure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7398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hospitals progress most?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78808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78808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4128" y="422452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Areas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5445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low-performance zones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960120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960120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960120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67528" y="10058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During / Post pandemic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1764792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764792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764792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67528" y="181051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21305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state performance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569464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569464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6946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67528" y="261518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Trends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67528" y="293522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reliability over time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374136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374136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374136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367528" y="341985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Type Analysis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67528" y="37398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vs Individual vs Global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178808"/>
            <a:ext cx="40690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4178808"/>
            <a:ext cx="475488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178808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367528" y="422452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67528" y="45445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priorities for action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6576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86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HCAHPS?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3456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standardized survey measuring patients' perspectives on hospital care.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quarterly by CMS.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Oct 2013 – Sep 2022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(Released: July 2015 – July 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8686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243584"/>
            <a:ext cx="4663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27101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27648" y="127101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33488" y="127101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periods &amp; dates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517904"/>
            <a:ext cx="4663440" cy="246888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54533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measures.csv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154533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33488" y="15453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HCAHPS measures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792224"/>
            <a:ext cx="4663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1965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questions.csv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7648" y="181965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33488" y="181965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questions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066544"/>
            <a:ext cx="4663440" cy="246888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09397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national_results.csv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209397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3488" y="209397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scores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2340864"/>
            <a:ext cx="4663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236829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state_results.csv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36829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4,580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33488" y="236829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scores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2615184"/>
            <a:ext cx="4663440" cy="246888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264261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responses.csv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27648" y="264261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43,219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33488" y="264261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response rates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2889504"/>
            <a:ext cx="4663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291693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states.csv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291693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33488" y="29169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Census regions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2450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HCAHPS Measures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816352"/>
            <a:ext cx="804672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01752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Nurses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52144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152144" y="2816352"/>
            <a:ext cx="804672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52144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179576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Doctors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29968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29968" y="2816352"/>
            <a:ext cx="804672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29968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057400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07792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907792" y="2816352"/>
            <a:ext cx="804672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07792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935224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Medicines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785616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785616" y="2816352"/>
            <a:ext cx="804672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85616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3813048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63440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2816352"/>
            <a:ext cx="804672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690872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541264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541264" y="2816352"/>
            <a:ext cx="804672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41264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568696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Environment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419088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419088" y="2816352"/>
            <a:ext cx="804672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19088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6446520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Quietness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Environment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296912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296912" y="2816352"/>
            <a:ext cx="804672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96912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7324344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Hospital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74736" y="2816352"/>
            <a:ext cx="804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174736" y="2816352"/>
            <a:ext cx="804672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74736" y="28163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8202168" y="2980944"/>
            <a:ext cx="7498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Recommend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Exploratory Data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Top-box 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tracked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2015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2023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764792"/>
            <a:ext cx="8595360" cy="3305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National Trend — Are Hospitals Improving?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2015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2020–2021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2023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-1.6pp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Overall average declined from 71.0% (2015) → 69.4% (2023). Scores peaked during COVID then collapsed sharply post-pandemic.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Measure-by-Measure Progress (2015 → 2023)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improved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decline (Meds)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post-peak drop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held flat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Zero measures showed net improvement — Communication about Medicines fell the most (-4pp) while Nurses, Discharge Info &amp; Quietness held flat.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Persistent Opportunity Areas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Transition avg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Comm. avg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Bottom-box burden (Meds)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-18.8pp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Transition gap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Care Transition has been stuck at 51–54% for 9 consecutive years — a structural failure, not a COVID effect. Medicine Communication carries the highest negative response burden (20% in 2023).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COVID-19 Impact on Patient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avg (2015–19)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COVID (2020–21)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avg (2022–23)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collapse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Scores paradoxically ROSE +0.7% during COVID — patients were more grateful. The real damage came post-COVID: -2.3% drop, erasing 6 years of gains due to staff burnout.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Geographic Analysis — State &amp; Regional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region (W.N. Central)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region (Mid-Atlantic)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state (S. Dakota)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state (DC)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West North Central leads at 74.9% while Mid-Atlantic lags at 67.3%. South Dakota (76.8%) is the best state; DC (62.4%) the worst. A 14.4pp gap separates best from worst state.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Response Rate Trends — Data Reliability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2015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2023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-8.1pp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decline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(score)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Response rates fell from 30.8% → 22.7% over 9 years. A correlation of r=0.593 shows states with higher participation tend to score better — declining engagement is itself a quality warning sign.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Measure Type Comparison — Composite vs Individual vs Global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39112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-1.8pp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decline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2039112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-1.5pp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decline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2039112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-1.0pp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decline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20391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203911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961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3502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 (all)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64792"/>
            <a:ext cx="859536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Composite measures (staff behavior) declined the most (-1.8pp). All three types peaked in 2020–21 then dropped. Individual Items showed most resilience (-1.0pp).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185416"/>
            <a:ext cx="8595360" cy="28849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Data-Driven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75488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41248" y="9601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Care Transition Processes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1307592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discharge planning teams, medication reconciliation, and 48-hr post-discharge follow-up calls. Stuck at 51–54% for 9 years.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868680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868680"/>
            <a:ext cx="475488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96012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155448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303520" y="9601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Medicine Communication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0" y="1307592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bedside pharmacist consultations and plain-language medication cards. 1 in 5 patients report worst possible medicine communication experience.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58568"/>
            <a:ext cx="475488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5000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294436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41248" y="235000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Post-COVID Staff Burnout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269748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staff mental health programs, safe staffing ratios, and communication skills training to restore pre-COVID service levels.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258568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258568"/>
            <a:ext cx="475488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35000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36592" y="294436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303520" y="235000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Responsiveness Protocols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03520" y="269748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call-light response benchmarks and accountability systems. Responsiveness dropped from 68% → 65% with a -5pp post-peak decline.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48456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48456"/>
            <a:ext cx="47548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73989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74320" y="433425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41248" y="37398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High-Performing States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" y="4087368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best-practice studies in South Dakota, Nebraska &amp; Kansas (76–77%). These Midwest states outperform by 4–5pp consistently.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3648456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3648456"/>
            <a:ext cx="475488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73989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36592" y="433425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303520" y="37398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Survey Participation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303520" y="4087368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SMS/multilingual post-discharge outreach. Response rates at 22.7% with r=0.593 correlation — engagement is itself a quality metric.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|  Executive Summary Dashboard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04672"/>
            <a:ext cx="8778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 y   T a k e a w a 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hospitals are not improving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experience — they are losing ground.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8321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Overall Top-box % declined 71.0% → 69.4% — all 10 measures fell or held flat over 9 years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0083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Care Transition (52.6%) &amp; Medicine Communication (64.8%) are chronic crisis zones requiring urgent 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45643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COVID scores paradoxically rose; the post-COVID collapse (-2.3%) erased 6 years of incremental gains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90448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Midwest states outperform coastal regions by 5–7pp — South Dakota, Nebraska &amp; Kansas are proven benchmarks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35254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Response rates fell to 22.7% — declining engagement amplifies bias and undermines data reliability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Bahaa  ·  Bahaa Pharmacy, Dirout, Egypt  ·  2026  ·  Data: CMS HCAHPS 2015–2023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HCAHPS Patient Survey — National Quality of Care Analysis</dc:title>
  <dc:subject>PptxGenJS Presentation</dc:subject>
  <dc:creator>Dr. Bahaa</dc:creator>
  <cp:lastModifiedBy>Dr. Bahaa</cp:lastModifiedBy>
  <cp:revision>1</cp:revision>
  <dcterms:created xsi:type="dcterms:W3CDTF">2026-05-31T13:01:52Z</dcterms:created>
  <dcterms:modified xsi:type="dcterms:W3CDTF">2026-05-31T13:01:52Z</dcterms:modified>
</cp:coreProperties>
</file>